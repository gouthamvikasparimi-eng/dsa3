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6" r:id="rId1"/>
  </p:sldMasterIdLst>
  <p:sldIdLst>
    <p:sldId id="256" r:id="rId2"/>
    <p:sldId id="279" r:id="rId3"/>
    <p:sldId id="259" r:id="rId4"/>
    <p:sldId id="260" r:id="rId5"/>
    <p:sldId id="274" r:id="rId6"/>
    <p:sldId id="275" r:id="rId7"/>
    <p:sldId id="276" r:id="rId8"/>
    <p:sldId id="277" r:id="rId9"/>
    <p:sldId id="278" r:id="rId10"/>
    <p:sldId id="27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64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1395FDDF-42C6-42D4-9316-5DFE900840F9}" type="datetimeFigureOut">
              <a:rPr lang="en-IN" smtClean="0"/>
              <a:t>18-08-2026</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16654903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2461687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539054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395FDDF-42C6-42D4-9316-5DFE900840F9}"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796727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395FDDF-42C6-42D4-9316-5DFE900840F9}" type="datetimeFigureOut">
              <a:rPr lang="en-IN" smtClean="0"/>
              <a:t>18-08-2026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61073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395FDDF-42C6-42D4-9316-5DFE900840F9}" type="datetimeFigureOut">
              <a:rPr lang="en-IN" smtClean="0"/>
              <a:t>18-08-2026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62803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1395FDDF-42C6-42D4-9316-5DFE900840F9}" type="datetimeFigureOut">
              <a:rPr lang="en-IN" smtClean="0"/>
              <a:t>18-08-2026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4528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682288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15478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18-08-2026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007175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995152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4283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23845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0835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306044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676631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18-08-2026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899189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395FDDF-42C6-42D4-9316-5DFE900840F9}" type="datetimeFigureOut">
              <a:rPr lang="en-IN" smtClean="0"/>
              <a:t>18-08-2026</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AD6A22-0BF5-47B3-AAFB-2EB592D6F415}" type="slidenum">
              <a:rPr lang="en-IN" smtClean="0"/>
              <a:t>‹#›</a:t>
            </a:fld>
            <a:endParaRPr lang="en-IN"/>
          </a:p>
        </p:txBody>
      </p:sp>
    </p:spTree>
    <p:extLst>
      <p:ext uri="{BB962C8B-B14F-4D97-AF65-F5344CB8AC3E}">
        <p14:creationId xmlns:p14="http://schemas.microsoft.com/office/powerpoint/2010/main" val="1051449212"/>
      </p:ext>
    </p:extLst>
  </p:cSld>
  <p:clrMap bg1="dk1" tx1="lt1" bg2="dk2" tx2="lt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 id="2147483869" r:id="rId13"/>
    <p:sldLayoutId id="2147483870" r:id="rId14"/>
    <p:sldLayoutId id="2147483871" r:id="rId15"/>
    <p:sldLayoutId id="2147483872" r:id="rId16"/>
    <p:sldLayoutId id="214748387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84147" y="659876"/>
            <a:ext cx="7955279" cy="1515453"/>
          </a:xfrm>
        </p:spPr>
        <p:txBody>
          <a:bodyPr>
            <a:normAutofit fontScale="90000"/>
          </a:bodyPr>
          <a:lstStyle/>
          <a:p>
            <a:pPr algn="ctr"/>
            <a:r>
              <a:rPr lang="en-US" dirty="0"/>
              <a:t>Plagiarism Detection Engine for Academic Submissions</a:t>
            </a:r>
            <a:endParaRPr lang="en-IN" dirty="0"/>
          </a:p>
        </p:txBody>
      </p:sp>
      <p:sp>
        <p:nvSpPr>
          <p:cNvPr id="3" name="Subtitle 2"/>
          <p:cNvSpPr>
            <a:spLocks noGrp="1"/>
          </p:cNvSpPr>
          <p:nvPr>
            <p:ph type="subTitle" idx="1"/>
          </p:nvPr>
        </p:nvSpPr>
        <p:spPr>
          <a:xfrm>
            <a:off x="3962399" y="2175329"/>
            <a:ext cx="7197726" cy="4170607"/>
          </a:xfrm>
        </p:spPr>
        <p:txBody>
          <a:bodyPr>
            <a:normAutofit/>
          </a:bodyPr>
          <a:lstStyle/>
          <a:p>
            <a:pPr algn="ctr"/>
            <a:r>
              <a:rPr lang="en-US" dirty="0" smtClean="0"/>
              <a:t>COURSE </a:t>
            </a:r>
            <a:r>
              <a:rPr lang="en-US" dirty="0" smtClean="0"/>
              <a:t>: DATA STRUCTURES AND ALGORITHMS - 3</a:t>
            </a:r>
            <a:endParaRPr lang="en-US" dirty="0" smtClean="0"/>
          </a:p>
          <a:p>
            <a:pPr algn="ctr"/>
            <a:r>
              <a:rPr lang="en-US" dirty="0" smtClean="0"/>
              <a:t>COURSE CODE: </a:t>
            </a:r>
            <a:r>
              <a:rPr lang="en-US" dirty="0" smtClean="0"/>
              <a:t>25CS2103E</a:t>
            </a:r>
            <a:endParaRPr lang="en-US" dirty="0" smtClean="0"/>
          </a:p>
          <a:p>
            <a:pPr algn="ctr"/>
            <a:r>
              <a:rPr lang="en-US" dirty="0" smtClean="0"/>
              <a:t>SECTION: 11</a:t>
            </a:r>
          </a:p>
          <a:p>
            <a:pPr algn="ctr"/>
            <a:r>
              <a:rPr lang="en-US" dirty="0" smtClean="0"/>
              <a:t>BRANCH: CSIT</a:t>
            </a:r>
          </a:p>
          <a:p>
            <a:pPr algn="ctr"/>
            <a:r>
              <a:rPr lang="en-US" dirty="0" smtClean="0"/>
              <a:t>GUIDED BY: </a:t>
            </a:r>
            <a:r>
              <a:rPr lang="en-US" dirty="0" err="1" smtClean="0"/>
              <a:t>ch.anitha</a:t>
            </a:r>
            <a:r>
              <a:rPr lang="en-US" dirty="0" smtClean="0"/>
              <a:t>(assistant </a:t>
            </a:r>
            <a:r>
              <a:rPr lang="en-US" dirty="0" smtClean="0"/>
              <a:t>professor)</a:t>
            </a:r>
          </a:p>
          <a:p>
            <a:pPr algn="ctr"/>
            <a:r>
              <a:rPr lang="en-US" dirty="0" smtClean="0"/>
              <a:t>Group: </a:t>
            </a:r>
            <a:r>
              <a:rPr lang="en-US" dirty="0" smtClean="0"/>
              <a:t>24</a:t>
            </a:r>
            <a:endParaRPr lang="en-IN" dirty="0" smtClean="0"/>
          </a:p>
          <a:p>
            <a:pPr algn="ctr"/>
            <a:r>
              <a:rPr lang="en-US" dirty="0" smtClean="0"/>
              <a:t>2520090096  - GOUTHAM VIKAS PARIMI</a:t>
            </a:r>
          </a:p>
          <a:p>
            <a:pPr algn="ctr"/>
            <a:r>
              <a:rPr lang="en-US" dirty="0" smtClean="0"/>
              <a:t>2026-2027</a:t>
            </a:r>
            <a:endParaRPr lang="en-US" dirty="0" smtClean="0"/>
          </a:p>
        </p:txBody>
      </p:sp>
      <p:pic>
        <p:nvPicPr>
          <p:cNvPr id="4" name="Picture 3"/>
          <p:cNvPicPr>
            <a:picLocks noChangeAspect="1"/>
          </p:cNvPicPr>
          <p:nvPr/>
        </p:nvPicPr>
        <p:blipFill>
          <a:blip r:embed="rId2"/>
          <a:stretch>
            <a:fillRect/>
          </a:stretch>
        </p:blipFill>
        <p:spPr>
          <a:xfrm>
            <a:off x="0" y="0"/>
            <a:ext cx="3043170" cy="1086928"/>
          </a:xfrm>
          <a:prstGeom prst="rect">
            <a:avLst/>
          </a:prstGeom>
          <a:noFill/>
          <a:ln>
            <a:noFill/>
          </a:ln>
        </p:spPr>
      </p:pic>
    </p:spTree>
    <p:extLst>
      <p:ext uri="{BB962C8B-B14F-4D97-AF65-F5344CB8AC3E}">
        <p14:creationId xmlns:p14="http://schemas.microsoft.com/office/powerpoint/2010/main" val="6392828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contents</a:t>
            </a:r>
            <a:endParaRPr lang="en-IN" dirty="0"/>
          </a:p>
        </p:txBody>
      </p:sp>
      <p:sp>
        <p:nvSpPr>
          <p:cNvPr id="3" name="Content Placeholder 2"/>
          <p:cNvSpPr>
            <a:spLocks noGrp="1"/>
          </p:cNvSpPr>
          <p:nvPr>
            <p:ph idx="1"/>
          </p:nvPr>
        </p:nvSpPr>
        <p:spPr/>
        <p:txBody>
          <a:bodyPr/>
          <a:lstStyle/>
          <a:p>
            <a:r>
              <a:rPr lang="en-US" dirty="0" smtClean="0"/>
              <a:t>ABSTRACT </a:t>
            </a:r>
          </a:p>
          <a:p>
            <a:r>
              <a:rPr lang="en-US" dirty="0" smtClean="0"/>
              <a:t>INTRODUCTION </a:t>
            </a:r>
          </a:p>
          <a:p>
            <a:r>
              <a:rPr lang="en-US" dirty="0" smtClean="0"/>
              <a:t>LITERATURE SURVEY </a:t>
            </a:r>
          </a:p>
          <a:p>
            <a:r>
              <a:rPr lang="en-US" dirty="0" smtClean="0"/>
              <a:t>PROBLEM STATEMENT AND OBJECTIVES</a:t>
            </a:r>
          </a:p>
          <a:p>
            <a:r>
              <a:rPr lang="en-US" dirty="0" smtClean="0"/>
              <a:t>HARDWARE AND SOFTWARE REQUIREMENTS </a:t>
            </a:r>
          </a:p>
          <a:p>
            <a:r>
              <a:rPr lang="en-US" dirty="0" smtClean="0"/>
              <a:t>RESULTS </a:t>
            </a:r>
          </a:p>
          <a:p>
            <a:r>
              <a:rPr lang="en-US" dirty="0" smtClean="0"/>
              <a:t>CONCLUSION AND FUTURE SCOPE</a:t>
            </a:r>
            <a:endParaRPr lang="en-IN" dirty="0"/>
          </a:p>
        </p:txBody>
      </p:sp>
    </p:spTree>
    <p:extLst>
      <p:ext uri="{BB962C8B-B14F-4D97-AF65-F5344CB8AC3E}">
        <p14:creationId xmlns:p14="http://schemas.microsoft.com/office/powerpoint/2010/main" val="3781449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1215" y="232529"/>
            <a:ext cx="10131425" cy="681872"/>
          </a:xfrm>
        </p:spPr>
        <p:txBody>
          <a:bodyPr/>
          <a:lstStyle/>
          <a:p>
            <a:pPr algn="ctr"/>
            <a:r>
              <a:rPr lang="en-US" dirty="0" smtClean="0"/>
              <a:t>ABSTRACT</a:t>
            </a:r>
            <a:endParaRPr lang="en-IN" dirty="0"/>
          </a:p>
        </p:txBody>
      </p:sp>
      <p:sp>
        <p:nvSpPr>
          <p:cNvPr id="3" name="Content Placeholder 2"/>
          <p:cNvSpPr>
            <a:spLocks noGrp="1"/>
          </p:cNvSpPr>
          <p:nvPr>
            <p:ph idx="1"/>
          </p:nvPr>
        </p:nvSpPr>
        <p:spPr>
          <a:xfrm>
            <a:off x="685801" y="914401"/>
            <a:ext cx="10131425" cy="5137607"/>
          </a:xfrm>
        </p:spPr>
        <p:txBody>
          <a:bodyPr>
            <a:normAutofit/>
          </a:bodyPr>
          <a:lstStyle/>
          <a:p>
            <a:pPr marL="0" indent="0" algn="just">
              <a:buNone/>
            </a:pPr>
            <a:r>
              <a:rPr lang="en-US" dirty="0"/>
              <a:t>Plagiarism Detection Engine for Academic Submissions is an intelligent web-based system designed to identify similarities between student assignments, reports, and research documents. The system allows users to upload </a:t>
            </a:r>
            <a:r>
              <a:rPr lang="en-US" dirty="0" smtClean="0"/>
              <a:t>documents in </a:t>
            </a:r>
            <a:r>
              <a:rPr lang="en-US" dirty="0"/>
              <a:t>various formats and automatically analyzes the content using Natural Language Processing (NLP) and text similarity algorithms such as </a:t>
            </a:r>
            <a:r>
              <a:rPr lang="en-US" dirty="0" smtClean="0"/>
              <a:t>TF-IDF and Cosine </a:t>
            </a:r>
            <a:r>
              <a:rPr lang="en-US" dirty="0"/>
              <a:t>Similarity. It generates a detailed plagiarism report </a:t>
            </a:r>
            <a:r>
              <a:rPr lang="en-US" dirty="0" smtClean="0"/>
              <a:t>highlighting matched content</a:t>
            </a:r>
            <a:r>
              <a:rPr lang="en-US" dirty="0"/>
              <a:t>, similarity percentages, and possible sources. The </a:t>
            </a:r>
            <a:r>
              <a:rPr lang="en-US" dirty="0" smtClean="0"/>
              <a:t>platform also provides </a:t>
            </a:r>
            <a:r>
              <a:rPr lang="en-US" dirty="0"/>
              <a:t>an administrator dashboard to manage users, submissions, </a:t>
            </a:r>
            <a:r>
              <a:rPr lang="en-US" dirty="0" smtClean="0"/>
              <a:t>and reports securely</a:t>
            </a:r>
            <a:r>
              <a:rPr lang="en-US" dirty="0"/>
              <a:t>. By promoting academic integrity, reducing manual </a:t>
            </a:r>
            <a:r>
              <a:rPr lang="en-US" dirty="0" smtClean="0"/>
              <a:t>verification efforts</a:t>
            </a:r>
            <a:r>
              <a:rPr lang="en-US" dirty="0"/>
              <a:t>, and ensuring originality, the system helps educational institutions </a:t>
            </a:r>
            <a:r>
              <a:rPr lang="en-US" dirty="0" smtClean="0"/>
              <a:t>streamline the evaluation </a:t>
            </a:r>
            <a:r>
              <a:rPr lang="en-US" dirty="0"/>
              <a:t>process. The project emphasizes accuracy, efficiency, scalability, </a:t>
            </a:r>
            <a:r>
              <a:rPr lang="en-US" dirty="0" smtClean="0"/>
              <a:t>and user-friendly </a:t>
            </a:r>
            <a:r>
              <a:rPr lang="en-US" dirty="0"/>
              <a:t>interaction while maintaining data privacy and secure document handling. It can be further enhanced with AI-based semantic </a:t>
            </a:r>
            <a:r>
              <a:rPr lang="en-US" dirty="0" smtClean="0"/>
              <a:t>similarity detection and </a:t>
            </a:r>
            <a:r>
              <a:rPr lang="en-US" dirty="0"/>
              <a:t>integration with institutional learning management systems (LMS).</a:t>
            </a:r>
            <a:endParaRPr lang="en-US" dirty="0"/>
          </a:p>
        </p:txBody>
      </p:sp>
    </p:spTree>
    <p:extLst>
      <p:ext uri="{BB962C8B-B14F-4D97-AF65-F5344CB8AC3E}">
        <p14:creationId xmlns:p14="http://schemas.microsoft.com/office/powerpoint/2010/main" val="42212808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41956"/>
            <a:ext cx="10131425" cy="823274"/>
          </a:xfrm>
        </p:spPr>
        <p:txBody>
          <a:bodyPr/>
          <a:lstStyle/>
          <a:p>
            <a:pPr algn="ctr"/>
            <a:r>
              <a:rPr lang="en-US" dirty="0" smtClean="0"/>
              <a:t>INTRODUCTION</a:t>
            </a:r>
            <a:endParaRPr lang="en-IN" dirty="0"/>
          </a:p>
        </p:txBody>
      </p:sp>
      <p:sp>
        <p:nvSpPr>
          <p:cNvPr id="3" name="Content Placeholder 2"/>
          <p:cNvSpPr>
            <a:spLocks noGrp="1"/>
          </p:cNvSpPr>
          <p:nvPr>
            <p:ph idx="1"/>
          </p:nvPr>
        </p:nvSpPr>
        <p:spPr>
          <a:xfrm>
            <a:off x="685800" y="1065230"/>
            <a:ext cx="10131425" cy="5213021"/>
          </a:xfrm>
        </p:spPr>
        <p:txBody>
          <a:bodyPr>
            <a:normAutofit/>
          </a:bodyPr>
          <a:lstStyle/>
          <a:p>
            <a:pPr marL="0" indent="0" algn="just">
              <a:buNone/>
            </a:pPr>
            <a:r>
              <a:rPr lang="en-US" dirty="0"/>
              <a:t>Plagiarism means using someone else's work or ideas without giving proper credit. It is a common problem in academic assignments, projects, and research papers. Checking plagiarism manually takes a lot of time and </a:t>
            </a:r>
            <a:r>
              <a:rPr lang="en-US" dirty="0" smtClean="0"/>
              <a:t>effort. The </a:t>
            </a:r>
            <a:r>
              <a:rPr lang="en-US" dirty="0"/>
              <a:t>Plagiarism Detection Engine for Academic Submissions is a web-based system that helps detect similar content in academic documents. Users can upload their documents, and the system compares the content with other </a:t>
            </a:r>
            <a:r>
              <a:rPr lang="en-US" dirty="0" smtClean="0"/>
              <a:t>documents. The </a:t>
            </a:r>
            <a:r>
              <a:rPr lang="en-US" dirty="0"/>
              <a:t>system uses Natural Language Processing (NLP), TF-IDF, and Cosine Similarity to find similar text. It generates a report showing the similarity percentage. This helps students and teachers check the originality of academic work easily</a:t>
            </a:r>
            <a:r>
              <a:rPr lang="en-US" dirty="0" smtClean="0"/>
              <a:t>.</a:t>
            </a:r>
            <a:endParaRPr lang="en-US" dirty="0"/>
          </a:p>
        </p:txBody>
      </p:sp>
    </p:spTree>
    <p:extLst>
      <p:ext uri="{BB962C8B-B14F-4D97-AF65-F5344CB8AC3E}">
        <p14:creationId xmlns:p14="http://schemas.microsoft.com/office/powerpoint/2010/main" val="2831912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LITERATURE SURVEY </a:t>
            </a:r>
            <a:endParaRPr lang="en-IN" dirty="0"/>
          </a:p>
        </p:txBody>
      </p:sp>
      <p:sp>
        <p:nvSpPr>
          <p:cNvPr id="3" name="Content Placeholder 2"/>
          <p:cNvSpPr>
            <a:spLocks noGrp="1"/>
          </p:cNvSpPr>
          <p:nvPr>
            <p:ph idx="1"/>
          </p:nvPr>
        </p:nvSpPr>
        <p:spPr/>
        <p:txBody>
          <a:bodyPr/>
          <a:lstStyle/>
          <a:p>
            <a:pPr marL="0" indent="0" algn="just">
              <a:buNone/>
            </a:pPr>
            <a:r>
              <a:rPr lang="en-US" dirty="0"/>
              <a:t>Different methods are available for detecting plagiarism. Some basic systems compare sentences and words directly. These methods can find copied text but may not detect changed or modified </a:t>
            </a:r>
            <a:r>
              <a:rPr lang="en-US" dirty="0" smtClean="0"/>
              <a:t>sentences. NLP </a:t>
            </a:r>
            <a:r>
              <a:rPr lang="en-US" dirty="0"/>
              <a:t>techniques are commonly used to process and compare text. TF-IDF helps identify important words in a document, while Cosine Similarity measures how similar two documents </a:t>
            </a:r>
            <a:r>
              <a:rPr lang="en-US" dirty="0" smtClean="0"/>
              <a:t>are. The </a:t>
            </a:r>
            <a:r>
              <a:rPr lang="en-US" dirty="0"/>
              <a:t>proposed system uses these simple and effective techniques to detect similarities between academic documents.</a:t>
            </a:r>
          </a:p>
        </p:txBody>
      </p:sp>
    </p:spTree>
    <p:extLst>
      <p:ext uri="{BB962C8B-B14F-4D97-AF65-F5344CB8AC3E}">
        <p14:creationId xmlns:p14="http://schemas.microsoft.com/office/powerpoint/2010/main" val="3072566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Problem statement AND OBJECTIVES</a:t>
            </a:r>
            <a:endParaRPr lang="en-IN" dirty="0"/>
          </a:p>
        </p:txBody>
      </p:sp>
      <p:sp>
        <p:nvSpPr>
          <p:cNvPr id="3" name="Content Placeholder 2"/>
          <p:cNvSpPr>
            <a:spLocks noGrp="1"/>
          </p:cNvSpPr>
          <p:nvPr>
            <p:ph idx="1"/>
          </p:nvPr>
        </p:nvSpPr>
        <p:spPr/>
        <p:txBody>
          <a:bodyPr/>
          <a:lstStyle/>
          <a:p>
            <a:pPr marL="0" indent="0" algn="just">
              <a:buNone/>
            </a:pPr>
            <a:r>
              <a:rPr lang="en-US" dirty="0"/>
              <a:t>Manually checking assignments and reports for plagiarism is difficult and time-consuming. Students may also copy content from other documents or online </a:t>
            </a:r>
            <a:r>
              <a:rPr lang="en-US" dirty="0" smtClean="0"/>
              <a:t>sources. Therefore</a:t>
            </a:r>
            <a:r>
              <a:rPr lang="en-US" dirty="0"/>
              <a:t>, a simple automated system is needed to compare documents and identify similar content quickly</a:t>
            </a:r>
            <a:r>
              <a:rPr lang="en-US" dirty="0" smtClean="0"/>
              <a:t>.</a:t>
            </a:r>
          </a:p>
          <a:p>
            <a:pPr marL="0" indent="0" algn="just">
              <a:buNone/>
            </a:pPr>
            <a:r>
              <a:rPr lang="en-US" dirty="0"/>
              <a:t>The main aim of this project is to create a simple web-based system that can detect plagiarism in academic documents. Users can upload their assignments or reports, and the system processes and compares the text using TF-IDF and Cosine Similarity. It calculates the similarity percentage and generates a simple plagiarism report. The system helps reduce the time and effort needed for manual checking and encourages students to submit original work, thereby promoting academic integrity.</a:t>
            </a:r>
          </a:p>
          <a:p>
            <a:pPr marL="0" indent="0" algn="just">
              <a:buNone/>
            </a:pPr>
            <a:endParaRPr lang="en-US" dirty="0"/>
          </a:p>
        </p:txBody>
      </p:sp>
    </p:spTree>
    <p:extLst>
      <p:ext uri="{BB962C8B-B14F-4D97-AF65-F5344CB8AC3E}">
        <p14:creationId xmlns:p14="http://schemas.microsoft.com/office/powerpoint/2010/main" val="642667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HARDWARE AND SOFTWARE REQUIREMENTS</a:t>
            </a:r>
            <a:endParaRPr lang="en-IN" dirty="0"/>
          </a:p>
        </p:txBody>
      </p:sp>
      <p:sp>
        <p:nvSpPr>
          <p:cNvPr id="3" name="Content Placeholder 2"/>
          <p:cNvSpPr>
            <a:spLocks noGrp="1"/>
          </p:cNvSpPr>
          <p:nvPr>
            <p:ph idx="1"/>
          </p:nvPr>
        </p:nvSpPr>
        <p:spPr/>
        <p:txBody>
          <a:bodyPr/>
          <a:lstStyle/>
          <a:p>
            <a:pPr marL="0" indent="0" algn="just">
              <a:buNone/>
            </a:pPr>
            <a:r>
              <a:rPr lang="en-US" dirty="0"/>
              <a:t>Hardware </a:t>
            </a:r>
            <a:r>
              <a:rPr lang="en-US" dirty="0" smtClean="0"/>
              <a:t>Requirements: The </a:t>
            </a:r>
            <a:r>
              <a:rPr lang="en-US" dirty="0"/>
              <a:t>system requires a computer or laptop with an Intel Core i3 processor or above, at least 4 GB RAM, and 10 GB of free storage. A keyboard, mouse, and internet connection are also required to use and develop the system.</a:t>
            </a:r>
          </a:p>
          <a:p>
            <a:pPr marL="0" indent="0" algn="just">
              <a:buNone/>
            </a:pPr>
            <a:r>
              <a:rPr lang="en-US" dirty="0"/>
              <a:t>Software </a:t>
            </a:r>
            <a:r>
              <a:rPr lang="en-US" dirty="0" smtClean="0"/>
              <a:t>Requirements: The </a:t>
            </a:r>
            <a:r>
              <a:rPr lang="en-US" dirty="0"/>
              <a:t>project can be developed using Windows 10/11. The frontend uses HTML, CSS, and JavaScript, while Python with Flask is used for the backend. NLTK is used for text processing, and </a:t>
            </a:r>
            <a:r>
              <a:rPr lang="en-US" dirty="0" err="1"/>
              <a:t>Scikit</a:t>
            </a:r>
            <a:r>
              <a:rPr lang="en-US" dirty="0"/>
              <a:t>-learn is used for TF-IDF and Cosine Similarity. SQLite is used to store data, VS Code is used for development, and Google Chrome is used to access the web application.</a:t>
            </a:r>
          </a:p>
        </p:txBody>
      </p:sp>
    </p:spTree>
    <p:extLst>
      <p:ext uri="{BB962C8B-B14F-4D97-AF65-F5344CB8AC3E}">
        <p14:creationId xmlns:p14="http://schemas.microsoft.com/office/powerpoint/2010/main" val="324715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results</a:t>
            </a:r>
            <a:endParaRPr lang="en-IN" dirty="0"/>
          </a:p>
        </p:txBody>
      </p:sp>
      <p:sp>
        <p:nvSpPr>
          <p:cNvPr id="3" name="Content Placeholder 2"/>
          <p:cNvSpPr>
            <a:spLocks noGrp="1"/>
          </p:cNvSpPr>
          <p:nvPr>
            <p:ph idx="1"/>
          </p:nvPr>
        </p:nvSpPr>
        <p:spPr/>
        <p:txBody>
          <a:bodyPr/>
          <a:lstStyle/>
          <a:p>
            <a:pPr marL="0" indent="0" algn="just">
              <a:buNone/>
            </a:pPr>
            <a:r>
              <a:rPr lang="en-US" dirty="0"/>
              <a:t>The system successfully accepts academic documents and analyzes their text. It compares the documents using TF-IDF and Cosine </a:t>
            </a:r>
            <a:r>
              <a:rPr lang="en-US" dirty="0" smtClean="0"/>
              <a:t>Similarity. The </a:t>
            </a:r>
            <a:r>
              <a:rPr lang="en-US" dirty="0"/>
              <a:t>system provides a similarity percentage and identifies documents that contain similar content. A plagiarism report is generated to help users understand the </a:t>
            </a:r>
            <a:r>
              <a:rPr lang="en-US" dirty="0" smtClean="0"/>
              <a:t>result. The </a:t>
            </a:r>
            <a:r>
              <a:rPr lang="en-US" dirty="0"/>
              <a:t>system makes plagiarism checking faster and easier compared to manual checking.</a:t>
            </a:r>
          </a:p>
        </p:txBody>
      </p:sp>
    </p:spTree>
    <p:extLst>
      <p:ext uri="{BB962C8B-B14F-4D97-AF65-F5344CB8AC3E}">
        <p14:creationId xmlns:p14="http://schemas.microsoft.com/office/powerpoint/2010/main" val="3173918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Conclusion AND FUTURE SCOPE </a:t>
            </a:r>
            <a:endParaRPr lang="en-IN" dirty="0"/>
          </a:p>
        </p:txBody>
      </p:sp>
      <p:sp>
        <p:nvSpPr>
          <p:cNvPr id="3" name="Content Placeholder 2"/>
          <p:cNvSpPr>
            <a:spLocks noGrp="1"/>
          </p:cNvSpPr>
          <p:nvPr>
            <p:ph idx="1"/>
          </p:nvPr>
        </p:nvSpPr>
        <p:spPr/>
        <p:txBody>
          <a:bodyPr/>
          <a:lstStyle/>
          <a:p>
            <a:pPr marL="0" indent="0" algn="just">
              <a:buNone/>
            </a:pPr>
            <a:r>
              <a:rPr lang="en-US" dirty="0"/>
              <a:t>The Plagiarism Detection Engine is a simple and useful system for detecting similar content in academic documents. It uses NLP, TF-IDF, and Cosine Similarity to compare documents and calculate their </a:t>
            </a:r>
            <a:r>
              <a:rPr lang="en-US" dirty="0" smtClean="0"/>
              <a:t>similarity. The </a:t>
            </a:r>
            <a:r>
              <a:rPr lang="en-US" dirty="0"/>
              <a:t>system reduces manual work and helps students and teachers check academic documents easily. It also helps promote originality and academic integrity</a:t>
            </a:r>
            <a:r>
              <a:rPr lang="en-US" dirty="0" smtClean="0"/>
              <a:t>.</a:t>
            </a:r>
          </a:p>
          <a:p>
            <a:pPr marL="0" indent="0" algn="just">
              <a:buNone/>
            </a:pPr>
            <a:r>
              <a:rPr lang="en-US" dirty="0"/>
              <a:t>In the future, the system can be improved by adding AI-based plagiarism detection to find copied and paraphrased content more accurately. It can support more file formats and languages, check content from online sources, and generate more detailed reports. The system can also be connected to college LMS or academic portals and can be deployed online so that teachers and students can use it easily.</a:t>
            </a:r>
          </a:p>
          <a:p>
            <a:pPr marL="0" indent="0" algn="just">
              <a:buNone/>
            </a:pPr>
            <a:endParaRPr lang="en-US" dirty="0"/>
          </a:p>
        </p:txBody>
      </p:sp>
    </p:spTree>
    <p:extLst>
      <p:ext uri="{BB962C8B-B14F-4D97-AF65-F5344CB8AC3E}">
        <p14:creationId xmlns:p14="http://schemas.microsoft.com/office/powerpoint/2010/main" val="1951200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13817" y="2895600"/>
            <a:ext cx="10131425" cy="1456267"/>
          </a:xfrm>
        </p:spPr>
        <p:txBody>
          <a:bodyPr/>
          <a:lstStyle/>
          <a:p>
            <a:pPr algn="ctr"/>
            <a:r>
              <a:rPr lang="en-US" dirty="0" smtClean="0"/>
              <a:t>THANK YOU </a:t>
            </a:r>
            <a:endParaRPr lang="en-IN" dirty="0"/>
          </a:p>
        </p:txBody>
      </p:sp>
    </p:spTree>
    <p:extLst>
      <p:ext uri="{BB962C8B-B14F-4D97-AF65-F5344CB8AC3E}">
        <p14:creationId xmlns:p14="http://schemas.microsoft.com/office/powerpoint/2010/main" val="260056869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337</TotalTime>
  <Words>862</Words>
  <Application>Microsoft Office PowerPoint</Application>
  <PresentationFormat>Widescreen</PresentationFormat>
  <Paragraphs>35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Celestial</vt:lpstr>
      <vt:lpstr>Plagiarism Detection Engine for Academic Submissions</vt:lpstr>
      <vt:lpstr>contents</vt:lpstr>
      <vt:lpstr>ABSTRACT</vt:lpstr>
      <vt:lpstr>INTRODUCTION</vt:lpstr>
      <vt:lpstr>LITERATURE SURVEY </vt:lpstr>
      <vt:lpstr>Problem statement AND OBJECTIVES</vt:lpstr>
      <vt:lpstr>HARDWARE AND SOFTWARE REQUIREMENTS</vt:lpstr>
      <vt:lpstr>results</vt:lpstr>
      <vt:lpstr>Conclusion AND FUTURE SCOPE </vt:lpstr>
      <vt:lpstr>THANK YOU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Advertising IMPACT ANALYSIS</dc:title>
  <dc:creator>Sai Surendra</dc:creator>
  <cp:lastModifiedBy>Sai Surendra</cp:lastModifiedBy>
  <cp:revision>36</cp:revision>
  <dcterms:created xsi:type="dcterms:W3CDTF">2026-06-10T13:51:49Z</dcterms:created>
  <dcterms:modified xsi:type="dcterms:W3CDTF">2026-08-18T14:11:16Z</dcterms:modified>
</cp:coreProperties>
</file>